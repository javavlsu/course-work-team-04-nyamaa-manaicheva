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71" r:id="rId8"/>
    <p:sldId id="270" r:id="rId9"/>
    <p:sldId id="272" r:id="rId10"/>
    <p:sldId id="268" r:id="rId11"/>
    <p:sldId id="262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CAFF"/>
    <a:srgbClr val="7DAFFF"/>
    <a:srgbClr val="53ADFF"/>
    <a:srgbClr val="B9DEFF"/>
    <a:srgbClr val="8FA1FF"/>
    <a:srgbClr val="4A3AFF"/>
    <a:srgbClr val="6357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DD21B8-ACE9-4AA9-AECD-DC3938896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92C8F18-85B0-4317-A914-3A2BC136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368479-767F-4A10-9B6B-D5BD81E47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8237-CCD9-4E41-99E8-DB7754390AE5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2C6A0E-DDCA-41B5-921B-793BA659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62E716-851A-4DAE-95BD-C6653CA8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CCEAB-D20A-4C14-9956-E2F2DC033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73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CCC7E4-E9D9-487F-B362-120C7C825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66BCF3-69D3-471E-ADB6-F475FD3C4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6A9033-4D4A-4A0E-8FDD-BE2C4BF8A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8237-CCD9-4E41-99E8-DB7754390AE5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2021B9-8399-4DF6-8F56-588D936DA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9E350E-6C57-4723-99B1-7F69DDD47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CCEAB-D20A-4C14-9956-E2F2DC033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336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F09F7A-3B8F-4AB1-B0BA-5A774CEE7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6DD45D-1302-4EBF-B16D-AAD01AE35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E555DF-90D9-4C45-968F-5F7D8D04E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8237-CCD9-4E41-99E8-DB7754390AE5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AB139C-41B0-4FDA-BD6B-A150E6919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DB8B5E-B4CF-458A-B4C2-00A535F7F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CCEAB-D20A-4C14-9956-E2F2DC033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960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F1B13D-D621-4DD8-A238-DABD30930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667EF1-8F08-474E-A7BE-0673586AF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E492DC-DE33-4011-A052-A344CEB88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1019FB5-544C-466C-9DD8-FE174005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8237-CCD9-4E41-99E8-DB7754390AE5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E2FF97-D765-4AD3-A753-6BECE1D29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2B1714-01E2-4CF8-B64B-DAA750F3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CCEAB-D20A-4C14-9956-E2F2DC033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620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B787-C3F7-4308-BE93-38097C787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42CF04-1FE5-4ADD-A9BD-F5C782CA1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4171882-9CE8-48EA-A5AD-803C2FBD5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B1D4F4B-EEA1-4E39-89B8-665B3CE9E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029E272-1DE3-476B-88B3-CD6B52009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9A3AEAE-9676-49F2-85E9-A67715B46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8237-CCD9-4E41-99E8-DB7754390AE5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581A606-B764-45C5-BFED-4FB071CBD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C8B0341-8D38-4217-AF3F-302B45FC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CCEAB-D20A-4C14-9956-E2F2DC033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103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D02CC9-0CBE-4CA6-8CC5-FE2ED7917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272275C-1A38-4183-B005-CBD7EE5A3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8237-CCD9-4E41-99E8-DB7754390AE5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72BCBCB-E558-4FB8-A0CA-0244FE8C8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0E0736-9174-4EBD-A7A2-0042B7AD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CCEAB-D20A-4C14-9956-E2F2DC033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177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5C26D3-41A7-4E96-AFED-A83F90F18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8237-CCD9-4E41-99E8-DB7754390AE5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C2A85DF-FC0F-4733-8975-20012F27B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9351B3-057E-4FC9-A129-A4FC6D63E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CCEAB-D20A-4C14-9956-E2F2DC033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577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7F8C0-47C8-45C9-AD55-4490EE5A1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B3BE7C-BC91-4186-B7C7-65B4F4D9D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1C0E85-F0CE-4AC0-9177-6F24E08F9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956477-5178-4F17-8E84-629162C6F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8237-CCD9-4E41-99E8-DB7754390AE5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5443271-CC48-4D03-8A6F-FB879C84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A89216-F504-4794-9712-46773B636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CCEAB-D20A-4C14-9956-E2F2DC033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92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78FCAA-476E-4B7B-B258-6051B5D89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8A10324-5C7A-421F-828A-529F7CD2EE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7BDF55-627C-4F2A-95E3-B05DC666A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3E0D8E-2153-4D72-9523-6A1780513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8237-CCD9-4E41-99E8-DB7754390AE5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EBB5A9-3721-4177-B907-FC478B19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C4F63F-4FB2-439C-8F5E-F07CCF00B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CCEAB-D20A-4C14-9956-E2F2DC033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33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07CD8-0C13-4E29-9BE4-4DEB19162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2A52D37-7BE3-437A-AB00-B08504205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DE2636-EB29-4556-A326-0057BFF70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8237-CCD9-4E41-99E8-DB7754390AE5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A82886-603D-4241-9E97-A73487E51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3FA483-E608-402D-B435-45C286A3A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CCEAB-D20A-4C14-9956-E2F2DC033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19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45F0973-01E9-40DE-BE03-CAB2C27173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FAA4DD-77E8-4E0A-8F46-BE1002E24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FEF0AA-9CC6-48B2-B550-351EA1025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8237-CCD9-4E41-99E8-DB7754390AE5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16D522-946E-4FD5-8386-C9AF8DE6F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0BCCBB-FCDD-4EDD-B582-5DA74260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CCEAB-D20A-4C14-9956-E2F2DC033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337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33316B-365B-4522-9652-AB8F5AF76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CE69FD-1333-4E4B-8C84-48A48CF50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9793F6-EC18-4FFC-96C2-8CA5BDC2CD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08237-CCD9-4E41-99E8-DB7754390AE5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FFAC2E-81B1-4552-B314-363E7D31D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48AF0D-097F-4089-9326-3EBBBE32A3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CCEAB-D20A-4C14-9956-E2F2DC033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417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065CE5E-E3BD-43CA-B08E-4FD75ADDDB58}"/>
              </a:ext>
            </a:extLst>
          </p:cNvPr>
          <p:cNvSpPr/>
          <p:nvPr/>
        </p:nvSpPr>
        <p:spPr>
          <a:xfrm>
            <a:off x="0" y="-39330"/>
            <a:ext cx="12192000" cy="4591665"/>
          </a:xfrm>
          <a:prstGeom prst="rect">
            <a:avLst/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5C0CAC-8D7E-4859-A2F8-26FC73536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867" y="461717"/>
            <a:ext cx="9458634" cy="3491247"/>
          </a:xfrm>
        </p:spPr>
        <p:txBody>
          <a:bodyPr>
            <a:normAutofit/>
          </a:bodyPr>
          <a:lstStyle/>
          <a:p>
            <a:pPr algn="l"/>
            <a:r>
              <a:rPr lang="ru-RU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Прототип программной системы удаленного управления </a:t>
            </a:r>
            <a:br>
              <a:rPr lang="en-US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заметками</a:t>
            </a:r>
            <a:r>
              <a:rPr lang="en-US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организации</a:t>
            </a:r>
            <a:br>
              <a:rPr lang="ru-RU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учебного и рабочего процесса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B82F97-23C4-4B4C-AF71-AA6835E2A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867" y="4916129"/>
            <a:ext cx="3215150" cy="1521543"/>
          </a:xfrm>
        </p:spPr>
        <p:txBody>
          <a:bodyPr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Выполнили: </a:t>
            </a:r>
          </a:p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студенты группы ПРИ-123,</a:t>
            </a:r>
          </a:p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lang="ru-RU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Манайчева</a:t>
            </a:r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В. К.,</a:t>
            </a:r>
          </a:p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lang="ru-RU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Нямаа</a:t>
            </a:r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А. Ц.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D34B2F-CB7E-4354-B52F-BB7DC5F06045}"/>
              </a:ext>
            </a:extLst>
          </p:cNvPr>
          <p:cNvSpPr txBox="1"/>
          <p:nvPr/>
        </p:nvSpPr>
        <p:spPr>
          <a:xfrm>
            <a:off x="10624881" y="5852897"/>
            <a:ext cx="10951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endParaRPr lang="ru-RU" sz="32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FDEBDB6-7A2C-4368-82A0-1EE9B9C447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1852" y="420328"/>
            <a:ext cx="838201" cy="83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3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A44135-558F-41C0-BE1A-6DAAF9A2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404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 и задачи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185788-0A72-477E-B3F9-EA2954357968}"/>
              </a:ext>
            </a:extLst>
          </p:cNvPr>
          <p:cNvSpPr/>
          <p:nvPr/>
        </p:nvSpPr>
        <p:spPr>
          <a:xfrm>
            <a:off x="0" y="6243320"/>
            <a:ext cx="12192000" cy="614680"/>
          </a:xfrm>
          <a:prstGeom prst="rect">
            <a:avLst/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72D51F4-3085-474E-A28A-6E6CDD522D99}"/>
              </a:ext>
            </a:extLst>
          </p:cNvPr>
          <p:cNvSpPr txBox="1">
            <a:spLocks/>
          </p:cNvSpPr>
          <p:nvPr/>
        </p:nvSpPr>
        <p:spPr>
          <a:xfrm>
            <a:off x="254000" y="6389158"/>
            <a:ext cx="7044267" cy="468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01/</a:t>
            </a: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Цель и задачи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8E7260F-4C53-43C2-A17C-D336D91C8891}"/>
              </a:ext>
            </a:extLst>
          </p:cNvPr>
          <p:cNvSpPr/>
          <p:nvPr/>
        </p:nvSpPr>
        <p:spPr>
          <a:xfrm>
            <a:off x="838200" y="1460092"/>
            <a:ext cx="10515600" cy="1759040"/>
          </a:xfrm>
          <a:prstGeom prst="roundRect">
            <a:avLst>
              <a:gd name="adj" fmla="val 6606"/>
            </a:avLst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Разработать распределенную программную систему для организации личного и совместного рабочего пространства, предоставляющую функционал управления заметками, их синхронизации и инструменты планирования задач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5B96E8-A704-442E-888D-BD08D16E55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6258067"/>
            <a:ext cx="584200" cy="584200"/>
          </a:xfrm>
          <a:prstGeom prst="rect">
            <a:avLst/>
          </a:prstGeom>
        </p:spPr>
      </p:pic>
      <p:sp>
        <p:nvSpPr>
          <p:cNvPr id="13" name="Объект 2">
            <a:extLst>
              <a:ext uri="{FF2B5EF4-FFF2-40B4-BE49-F238E27FC236}">
                <a16:creationId xmlns:a16="http://schemas.microsoft.com/office/drawing/2014/main" id="{E80AAACE-3D6E-4225-B028-7FF30204B50B}"/>
              </a:ext>
            </a:extLst>
          </p:cNvPr>
          <p:cNvSpPr txBox="1">
            <a:spLocks/>
          </p:cNvSpPr>
          <p:nvPr/>
        </p:nvSpPr>
        <p:spPr>
          <a:xfrm>
            <a:off x="6178204" y="3565275"/>
            <a:ext cx="5175596" cy="108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Организация совместной работы и синхронизации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E018D340-DA2F-442E-A5A8-4AC5ADB459A1}"/>
              </a:ext>
            </a:extLst>
          </p:cNvPr>
          <p:cNvSpPr txBox="1">
            <a:spLocks/>
          </p:cNvSpPr>
          <p:nvPr/>
        </p:nvSpPr>
        <p:spPr>
          <a:xfrm>
            <a:off x="838200" y="3565275"/>
            <a:ext cx="4778478" cy="965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Создание простого и удобного редактора заметок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9AFDC7DD-857C-41ED-9518-2DF762FFC850}"/>
              </a:ext>
            </a:extLst>
          </p:cNvPr>
          <p:cNvSpPr txBox="1">
            <a:spLocks/>
          </p:cNvSpPr>
          <p:nvPr/>
        </p:nvSpPr>
        <p:spPr>
          <a:xfrm>
            <a:off x="838200" y="4698988"/>
            <a:ext cx="5051323" cy="108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Реализация модуля планирования и трекинга задач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3FD918E0-6E0A-4C2F-B847-50C89C363FF0}"/>
              </a:ext>
            </a:extLst>
          </p:cNvPr>
          <p:cNvSpPr txBox="1">
            <a:spLocks/>
          </p:cNvSpPr>
          <p:nvPr/>
        </p:nvSpPr>
        <p:spPr>
          <a:xfrm>
            <a:off x="6178204" y="4698988"/>
            <a:ext cx="4824093" cy="108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Реализация модуля аналитики и статистики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403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A44135-558F-41C0-BE1A-6DAAF9A2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404"/>
          </a:xfrm>
        </p:spPr>
        <p:txBody>
          <a:bodyPr>
            <a:normAutofit/>
          </a:bodyPr>
          <a:lstStyle/>
          <a:p>
            <a:pPr algn="r"/>
            <a:r>
              <a:rPr lang="ru-RU" sz="40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целевой аудитории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185788-0A72-477E-B3F9-EA2954357968}"/>
              </a:ext>
            </a:extLst>
          </p:cNvPr>
          <p:cNvSpPr/>
          <p:nvPr/>
        </p:nvSpPr>
        <p:spPr>
          <a:xfrm>
            <a:off x="0" y="6243320"/>
            <a:ext cx="12192000" cy="614680"/>
          </a:xfrm>
          <a:prstGeom prst="rect">
            <a:avLst/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72D51F4-3085-474E-A28A-6E6CDD522D99}"/>
              </a:ext>
            </a:extLst>
          </p:cNvPr>
          <p:cNvSpPr txBox="1">
            <a:spLocks/>
          </p:cNvSpPr>
          <p:nvPr/>
        </p:nvSpPr>
        <p:spPr>
          <a:xfrm>
            <a:off x="254000" y="6389158"/>
            <a:ext cx="7044267" cy="468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Основная целевая аудитория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5B96E8-A704-442E-888D-BD08D16E55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6258067"/>
            <a:ext cx="584200" cy="584200"/>
          </a:xfrm>
          <a:prstGeom prst="rect">
            <a:avLst/>
          </a:pr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5805D990-9119-4639-9FAF-E58C599C119D}"/>
              </a:ext>
            </a:extLst>
          </p:cNvPr>
          <p:cNvSpPr/>
          <p:nvPr/>
        </p:nvSpPr>
        <p:spPr>
          <a:xfrm>
            <a:off x="-1484671" y="433950"/>
            <a:ext cx="5407742" cy="5407742"/>
          </a:xfrm>
          <a:prstGeom prst="ellipse">
            <a:avLst/>
          </a:prstGeom>
          <a:solidFill>
            <a:srgbClr val="8FCA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2F7C2B74-BBA8-4E88-9CAE-841C39EBF43C}"/>
              </a:ext>
            </a:extLst>
          </p:cNvPr>
          <p:cNvSpPr/>
          <p:nvPr/>
        </p:nvSpPr>
        <p:spPr>
          <a:xfrm>
            <a:off x="-909361" y="1016308"/>
            <a:ext cx="4235491" cy="4235491"/>
          </a:xfrm>
          <a:prstGeom prst="ellipse">
            <a:avLst/>
          </a:prstGeom>
          <a:solidFill>
            <a:srgbClr val="8FCA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F86244A6-2B0A-44A1-B7EB-B4A7FB059C6A}"/>
              </a:ext>
            </a:extLst>
          </p:cNvPr>
          <p:cNvSpPr/>
          <p:nvPr/>
        </p:nvSpPr>
        <p:spPr>
          <a:xfrm>
            <a:off x="-367532" y="1560481"/>
            <a:ext cx="3151023" cy="3151023"/>
          </a:xfrm>
          <a:prstGeom prst="ellipse">
            <a:avLst/>
          </a:prstGeom>
          <a:solidFill>
            <a:srgbClr val="53A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7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9ADF4B8-3D99-4A1F-95F2-0FBC068534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199989"/>
            <a:ext cx="1890231" cy="1890231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CE9D69C-F8E4-4CA7-949F-DCE30CC3A5E8}"/>
              </a:ext>
            </a:extLst>
          </p:cNvPr>
          <p:cNvSpPr/>
          <p:nvPr/>
        </p:nvSpPr>
        <p:spPr>
          <a:xfrm>
            <a:off x="7521676" y="1357814"/>
            <a:ext cx="3832123" cy="783183"/>
          </a:xfrm>
          <a:prstGeom prst="roundRect">
            <a:avLst>
              <a:gd name="adj" fmla="val 16536"/>
            </a:avLst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Студенты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F7C06E9-4644-4185-8372-27D1867D68D7}"/>
              </a:ext>
            </a:extLst>
          </p:cNvPr>
          <p:cNvSpPr txBox="1">
            <a:spLocks/>
          </p:cNvSpPr>
          <p:nvPr/>
        </p:nvSpPr>
        <p:spPr>
          <a:xfrm>
            <a:off x="5174451" y="3425019"/>
            <a:ext cx="3220125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Потребность в простоте и наглядности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6CF3206C-AA0A-4F04-808B-2547D5E9E721}"/>
              </a:ext>
            </a:extLst>
          </p:cNvPr>
          <p:cNvSpPr txBox="1">
            <a:spLocks/>
          </p:cNvSpPr>
          <p:nvPr/>
        </p:nvSpPr>
        <p:spPr>
          <a:xfrm>
            <a:off x="8858863" y="3469716"/>
            <a:ext cx="2494936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Необходимость в быстром доступе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3D7EB4C9-751F-467D-8DCD-3EE5A6983D06}"/>
              </a:ext>
            </a:extLst>
          </p:cNvPr>
          <p:cNvSpPr txBox="1">
            <a:spLocks/>
          </p:cNvSpPr>
          <p:nvPr/>
        </p:nvSpPr>
        <p:spPr>
          <a:xfrm>
            <a:off x="4011936" y="4373839"/>
            <a:ext cx="2146751" cy="7317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Ограниченные ресурсы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D5B6C8D5-3963-4D9C-8113-724E96AA18C7}"/>
              </a:ext>
            </a:extLst>
          </p:cNvPr>
          <p:cNvSpPr/>
          <p:nvPr/>
        </p:nvSpPr>
        <p:spPr>
          <a:xfrm>
            <a:off x="4464901" y="2294224"/>
            <a:ext cx="6888898" cy="920258"/>
          </a:xfrm>
          <a:prstGeom prst="roundRect">
            <a:avLst>
              <a:gd name="adj" fmla="val 16536"/>
            </a:avLst>
          </a:prstGeom>
          <a:noFill/>
          <a:ln w="38100">
            <a:solidFill>
              <a:srgbClr val="8FC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Основная боль: информационный хаос – большое количество разрозненной информации</a:t>
            </a:r>
          </a:p>
        </p:txBody>
      </p:sp>
      <p:sp>
        <p:nvSpPr>
          <p:cNvPr id="28" name="Заголовок 1">
            <a:extLst>
              <a:ext uri="{FF2B5EF4-FFF2-40B4-BE49-F238E27FC236}">
                <a16:creationId xmlns:a16="http://schemas.microsoft.com/office/drawing/2014/main" id="{8B92B9B4-4844-456E-96A8-DB985E5B661C}"/>
              </a:ext>
            </a:extLst>
          </p:cNvPr>
          <p:cNvSpPr txBox="1">
            <a:spLocks/>
          </p:cNvSpPr>
          <p:nvPr/>
        </p:nvSpPr>
        <p:spPr>
          <a:xfrm>
            <a:off x="8788561" y="5143347"/>
            <a:ext cx="2565238" cy="7317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Совместная работа над проектами</a:t>
            </a:r>
          </a:p>
        </p:txBody>
      </p:sp>
      <p:sp>
        <p:nvSpPr>
          <p:cNvPr id="29" name="Заголовок 1">
            <a:extLst>
              <a:ext uri="{FF2B5EF4-FFF2-40B4-BE49-F238E27FC236}">
                <a16:creationId xmlns:a16="http://schemas.microsoft.com/office/drawing/2014/main" id="{EE865067-9069-4C32-B82D-F14441E7B2CC}"/>
              </a:ext>
            </a:extLst>
          </p:cNvPr>
          <p:cNvSpPr txBox="1">
            <a:spLocks/>
          </p:cNvSpPr>
          <p:nvPr/>
        </p:nvSpPr>
        <p:spPr>
          <a:xfrm>
            <a:off x="7435915" y="4365292"/>
            <a:ext cx="1678585" cy="7317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Единое хранилище</a:t>
            </a:r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ECDDBC1A-EEC1-4DA9-B5A4-F6CC6DF03D43}"/>
              </a:ext>
            </a:extLst>
          </p:cNvPr>
          <p:cNvSpPr txBox="1">
            <a:spLocks/>
          </p:cNvSpPr>
          <p:nvPr/>
        </p:nvSpPr>
        <p:spPr>
          <a:xfrm>
            <a:off x="5498349" y="5146811"/>
            <a:ext cx="2560639" cy="7317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Планирование учебной нагрузки</a:t>
            </a:r>
          </a:p>
        </p:txBody>
      </p:sp>
    </p:spTree>
    <p:extLst>
      <p:ext uri="{BB962C8B-B14F-4D97-AF65-F5344CB8AC3E}">
        <p14:creationId xmlns:p14="http://schemas.microsoft.com/office/powerpoint/2010/main" val="1065599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A44135-558F-41C0-BE1A-6DAAF9A2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404"/>
          </a:xfrm>
        </p:spPr>
        <p:txBody>
          <a:bodyPr>
            <a:normAutofit/>
          </a:bodyPr>
          <a:lstStyle/>
          <a:p>
            <a:pPr algn="r"/>
            <a:r>
              <a:rPr lang="ru-RU" sz="40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целевой аудитории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185788-0A72-477E-B3F9-EA2954357968}"/>
              </a:ext>
            </a:extLst>
          </p:cNvPr>
          <p:cNvSpPr/>
          <p:nvPr/>
        </p:nvSpPr>
        <p:spPr>
          <a:xfrm>
            <a:off x="0" y="6243320"/>
            <a:ext cx="12192000" cy="614680"/>
          </a:xfrm>
          <a:prstGeom prst="rect">
            <a:avLst/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72D51F4-3085-474E-A28A-6E6CDD522D99}"/>
              </a:ext>
            </a:extLst>
          </p:cNvPr>
          <p:cNvSpPr txBox="1">
            <a:spLocks/>
          </p:cNvSpPr>
          <p:nvPr/>
        </p:nvSpPr>
        <p:spPr>
          <a:xfrm>
            <a:off x="254000" y="6389158"/>
            <a:ext cx="7044267" cy="468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Потенциальная целевая аудитория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5B96E8-A704-442E-888D-BD08D16E55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6258067"/>
            <a:ext cx="584200" cy="584200"/>
          </a:xfrm>
          <a:prstGeom prst="rect">
            <a:avLst/>
          </a:pr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5805D990-9119-4639-9FAF-E58C599C119D}"/>
              </a:ext>
            </a:extLst>
          </p:cNvPr>
          <p:cNvSpPr/>
          <p:nvPr/>
        </p:nvSpPr>
        <p:spPr>
          <a:xfrm>
            <a:off x="-1484671" y="433950"/>
            <a:ext cx="5407742" cy="5407742"/>
          </a:xfrm>
          <a:prstGeom prst="ellipse">
            <a:avLst/>
          </a:prstGeom>
          <a:solidFill>
            <a:srgbClr val="8FCA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2F7C2B74-BBA8-4E88-9CAE-841C39EBF43C}"/>
              </a:ext>
            </a:extLst>
          </p:cNvPr>
          <p:cNvSpPr/>
          <p:nvPr/>
        </p:nvSpPr>
        <p:spPr>
          <a:xfrm>
            <a:off x="-909361" y="1016308"/>
            <a:ext cx="4235491" cy="4235491"/>
          </a:xfrm>
          <a:prstGeom prst="ellipse">
            <a:avLst/>
          </a:prstGeom>
          <a:solidFill>
            <a:srgbClr val="53A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CE9D69C-F8E4-4CA7-949F-DCE30CC3A5E8}"/>
              </a:ext>
            </a:extLst>
          </p:cNvPr>
          <p:cNvSpPr/>
          <p:nvPr/>
        </p:nvSpPr>
        <p:spPr>
          <a:xfrm>
            <a:off x="6096000" y="1404368"/>
            <a:ext cx="5257799" cy="783183"/>
          </a:xfrm>
          <a:prstGeom prst="roundRect">
            <a:avLst>
              <a:gd name="adj" fmla="val 16536"/>
            </a:avLst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Сотрудники компаний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F7C06E9-4644-4185-8372-27D1867D68D7}"/>
              </a:ext>
            </a:extLst>
          </p:cNvPr>
          <p:cNvSpPr txBox="1">
            <a:spLocks/>
          </p:cNvSpPr>
          <p:nvPr/>
        </p:nvSpPr>
        <p:spPr>
          <a:xfrm>
            <a:off x="7909350" y="4766614"/>
            <a:ext cx="3097162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Многопользовательский режим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EBC917E-DED3-4EC9-B7A8-8EE64DBABF30}"/>
              </a:ext>
            </a:extLst>
          </p:cNvPr>
          <p:cNvSpPr/>
          <p:nvPr/>
        </p:nvSpPr>
        <p:spPr>
          <a:xfrm>
            <a:off x="4464901" y="2294224"/>
            <a:ext cx="6888898" cy="920258"/>
          </a:xfrm>
          <a:prstGeom prst="roundRect">
            <a:avLst>
              <a:gd name="adj" fmla="val 16536"/>
            </a:avLst>
          </a:prstGeom>
          <a:noFill/>
          <a:ln w="38100">
            <a:solidFill>
              <a:srgbClr val="8FC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Основная боль: информационный шум, неэффективное планирование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5CD959F-38FC-4A2F-847C-124CB6A945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5522"/>
            <a:ext cx="2461006" cy="2461006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08A7B9E-D9CE-4E1D-BA2F-ED59AAE1A3BE}"/>
              </a:ext>
            </a:extLst>
          </p:cNvPr>
          <p:cNvSpPr txBox="1">
            <a:spLocks/>
          </p:cNvSpPr>
          <p:nvPr/>
        </p:nvSpPr>
        <p:spPr>
          <a:xfrm>
            <a:off x="4471631" y="3727372"/>
            <a:ext cx="2009996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Потребность </a:t>
            </a:r>
          </a:p>
          <a:p>
            <a:pPr algn="ctr"/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гибкости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B6DF62CA-6939-4EF1-A966-AC256144AE98}"/>
              </a:ext>
            </a:extLst>
          </p:cNvPr>
          <p:cNvSpPr txBox="1">
            <a:spLocks/>
          </p:cNvSpPr>
          <p:nvPr/>
        </p:nvSpPr>
        <p:spPr>
          <a:xfrm>
            <a:off x="5190597" y="4766614"/>
            <a:ext cx="2582059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Интуитивность</a:t>
            </a:r>
          </a:p>
          <a:p>
            <a:pPr algn="ctr"/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использовании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7B8ADF1B-C66E-4DF7-A856-BD24EE8F47FE}"/>
              </a:ext>
            </a:extLst>
          </p:cNvPr>
          <p:cNvSpPr txBox="1">
            <a:spLocks/>
          </p:cNvSpPr>
          <p:nvPr/>
        </p:nvSpPr>
        <p:spPr>
          <a:xfrm>
            <a:off x="6687150" y="3727372"/>
            <a:ext cx="2444400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Оптимизация</a:t>
            </a:r>
          </a:p>
          <a:p>
            <a:pPr algn="ctr"/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рутинных задач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24092CB1-9447-4CD9-9889-0615BB4C3FC9}"/>
              </a:ext>
            </a:extLst>
          </p:cNvPr>
          <p:cNvSpPr txBox="1">
            <a:spLocks/>
          </p:cNvSpPr>
          <p:nvPr/>
        </p:nvSpPr>
        <p:spPr>
          <a:xfrm>
            <a:off x="9232489" y="3727372"/>
            <a:ext cx="2300751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Возможность</a:t>
            </a:r>
          </a:p>
          <a:p>
            <a:pPr algn="ctr"/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97046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A44135-558F-41C0-BE1A-6DAAF9A2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404"/>
          </a:xfrm>
        </p:spPr>
        <p:txBody>
          <a:bodyPr>
            <a:normAutofit/>
          </a:bodyPr>
          <a:lstStyle/>
          <a:p>
            <a:pPr algn="r"/>
            <a:r>
              <a:rPr lang="ru-RU" sz="40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целевой аудитории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185788-0A72-477E-B3F9-EA2954357968}"/>
              </a:ext>
            </a:extLst>
          </p:cNvPr>
          <p:cNvSpPr/>
          <p:nvPr/>
        </p:nvSpPr>
        <p:spPr>
          <a:xfrm>
            <a:off x="0" y="6243320"/>
            <a:ext cx="12192000" cy="614680"/>
          </a:xfrm>
          <a:prstGeom prst="rect">
            <a:avLst/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72D51F4-3085-474E-A28A-6E6CDD522D99}"/>
              </a:ext>
            </a:extLst>
          </p:cNvPr>
          <p:cNvSpPr txBox="1">
            <a:spLocks/>
          </p:cNvSpPr>
          <p:nvPr/>
        </p:nvSpPr>
        <p:spPr>
          <a:xfrm>
            <a:off x="254000" y="6389158"/>
            <a:ext cx="7044267" cy="468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Косвенная целевая аудитория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5B96E8-A704-442E-888D-BD08D16E55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6258067"/>
            <a:ext cx="584200" cy="584200"/>
          </a:xfrm>
          <a:prstGeom prst="rect">
            <a:avLst/>
          </a:pr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5805D990-9119-4639-9FAF-E58C599C119D}"/>
              </a:ext>
            </a:extLst>
          </p:cNvPr>
          <p:cNvSpPr/>
          <p:nvPr/>
        </p:nvSpPr>
        <p:spPr>
          <a:xfrm>
            <a:off x="-1484671" y="433950"/>
            <a:ext cx="5407742" cy="5407742"/>
          </a:xfrm>
          <a:prstGeom prst="ellipse">
            <a:avLst/>
          </a:prstGeom>
          <a:solidFill>
            <a:srgbClr val="53ADF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CE9D69C-F8E4-4CA7-949F-DCE30CC3A5E8}"/>
              </a:ext>
            </a:extLst>
          </p:cNvPr>
          <p:cNvSpPr/>
          <p:nvPr/>
        </p:nvSpPr>
        <p:spPr>
          <a:xfrm>
            <a:off x="4591665" y="1357814"/>
            <a:ext cx="6762135" cy="783183"/>
          </a:xfrm>
          <a:prstGeom prst="roundRect">
            <a:avLst>
              <a:gd name="adj" fmla="val 16536"/>
            </a:avLst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Руководители компаний, аналитики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F7C06E9-4644-4185-8372-27D1867D68D7}"/>
              </a:ext>
            </a:extLst>
          </p:cNvPr>
          <p:cNvSpPr txBox="1">
            <a:spLocks/>
          </p:cNvSpPr>
          <p:nvPr/>
        </p:nvSpPr>
        <p:spPr>
          <a:xfrm>
            <a:off x="6157655" y="2840264"/>
            <a:ext cx="3630153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2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Потребность в наглядных статистических данных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795E167-D8C2-4607-8BDB-534C94402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32" y="1856885"/>
            <a:ext cx="2507226" cy="2507226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717CA18-BC71-4A09-882D-7A44C21D0301}"/>
              </a:ext>
            </a:extLst>
          </p:cNvPr>
          <p:cNvSpPr txBox="1">
            <a:spLocks/>
          </p:cNvSpPr>
          <p:nvPr/>
        </p:nvSpPr>
        <p:spPr>
          <a:xfrm>
            <a:off x="4428612" y="3892423"/>
            <a:ext cx="3630153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2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Контроль и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мониторинг</a:t>
            </a:r>
          </a:p>
          <a:p>
            <a:pPr algn="ctr"/>
            <a:r>
              <a:rPr lang="ru-RU" sz="22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рабочего процесса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364BAB14-CB39-44C4-B2BD-EDF3536D3546}"/>
              </a:ext>
            </a:extLst>
          </p:cNvPr>
          <p:cNvSpPr txBox="1">
            <a:spLocks/>
          </p:cNvSpPr>
          <p:nvPr/>
        </p:nvSpPr>
        <p:spPr>
          <a:xfrm>
            <a:off x="8341647" y="4403439"/>
            <a:ext cx="2892322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2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Стандартизация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18072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A44135-558F-41C0-BE1A-6DAAF9A2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404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Решение проблем целевой аудитории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185788-0A72-477E-B3F9-EA2954357968}"/>
              </a:ext>
            </a:extLst>
          </p:cNvPr>
          <p:cNvSpPr/>
          <p:nvPr/>
        </p:nvSpPr>
        <p:spPr>
          <a:xfrm>
            <a:off x="0" y="6243320"/>
            <a:ext cx="12192000" cy="614680"/>
          </a:xfrm>
          <a:prstGeom prst="rect">
            <a:avLst/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72D51F4-3085-474E-A28A-6E6CDD522D99}"/>
              </a:ext>
            </a:extLst>
          </p:cNvPr>
          <p:cNvSpPr txBox="1">
            <a:spLocks/>
          </p:cNvSpPr>
          <p:nvPr/>
        </p:nvSpPr>
        <p:spPr>
          <a:xfrm>
            <a:off x="254000" y="6389158"/>
            <a:ext cx="7044267" cy="468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Решение проблем целевой аудитории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5B96E8-A704-442E-888D-BD08D16E55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6258067"/>
            <a:ext cx="584200" cy="584200"/>
          </a:xfrm>
          <a:prstGeom prst="rect">
            <a:avLst/>
          </a:prstGeom>
        </p:spPr>
      </p:pic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2050BD1F-D84B-4723-830D-53F592FB3BBC}"/>
              </a:ext>
            </a:extLst>
          </p:cNvPr>
          <p:cNvSpPr/>
          <p:nvPr/>
        </p:nvSpPr>
        <p:spPr>
          <a:xfrm>
            <a:off x="585017" y="2230821"/>
            <a:ext cx="4852222" cy="783183"/>
          </a:xfrm>
          <a:prstGeom prst="roundRect">
            <a:avLst>
              <a:gd name="adj" fmla="val 16536"/>
            </a:avLst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Необходимость структурирования большого количества информации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D12DABFD-5475-4203-A7EC-93EF3FC6D370}"/>
              </a:ext>
            </a:extLst>
          </p:cNvPr>
          <p:cNvSpPr/>
          <p:nvPr/>
        </p:nvSpPr>
        <p:spPr>
          <a:xfrm>
            <a:off x="585017" y="1454579"/>
            <a:ext cx="3991897" cy="580192"/>
          </a:xfrm>
          <a:prstGeom prst="roundRect">
            <a:avLst>
              <a:gd name="adj" fmla="val 16536"/>
            </a:avLst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Ограничения по ресурсам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4F215C02-5288-4E95-B822-C0D36982C577}"/>
              </a:ext>
            </a:extLst>
          </p:cNvPr>
          <p:cNvSpPr/>
          <p:nvPr/>
        </p:nvSpPr>
        <p:spPr>
          <a:xfrm>
            <a:off x="585019" y="3270086"/>
            <a:ext cx="4689987" cy="783183"/>
          </a:xfrm>
          <a:prstGeom prst="roundRect">
            <a:avLst>
              <a:gd name="adj" fmla="val 16536"/>
            </a:avLst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Необходимость доступа к записям без выхода в Интернет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53B579E5-AA7C-4250-B220-65E17CB019EE}"/>
              </a:ext>
            </a:extLst>
          </p:cNvPr>
          <p:cNvSpPr/>
          <p:nvPr/>
        </p:nvSpPr>
        <p:spPr>
          <a:xfrm>
            <a:off x="585018" y="4178019"/>
            <a:ext cx="4689987" cy="783183"/>
          </a:xfrm>
          <a:prstGeom prst="roundRect">
            <a:avLst>
              <a:gd name="adj" fmla="val 16536"/>
            </a:avLst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Проблема организации учебной нагрузки, рабочих задач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1741BAAC-A942-4480-B294-C72E5EBE2BB0}"/>
              </a:ext>
            </a:extLst>
          </p:cNvPr>
          <p:cNvSpPr/>
          <p:nvPr/>
        </p:nvSpPr>
        <p:spPr>
          <a:xfrm>
            <a:off x="585018" y="5194842"/>
            <a:ext cx="5145549" cy="783183"/>
          </a:xfrm>
          <a:prstGeom prst="roundRect">
            <a:avLst>
              <a:gd name="adj" fmla="val 16536"/>
            </a:avLst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Проблема сложности организации совместной работы над одним проектом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86E5F748-CA87-452E-B16E-365AF5D3E675}"/>
              </a:ext>
            </a:extLst>
          </p:cNvPr>
          <p:cNvSpPr/>
          <p:nvPr/>
        </p:nvSpPr>
        <p:spPr>
          <a:xfrm>
            <a:off x="6916994" y="1405698"/>
            <a:ext cx="4689987" cy="783183"/>
          </a:xfrm>
          <a:prstGeom prst="roundRect">
            <a:avLst>
              <a:gd name="adj" fmla="val 16536"/>
            </a:avLst>
          </a:prstGeom>
          <a:noFill/>
          <a:ln w="38100">
            <a:solidFill>
              <a:srgbClr val="8FC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Единое </a:t>
            </a:r>
            <a:r>
              <a:rPr lang="ru-RU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удаленное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хранилище со всеми документами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DE36890E-C447-453F-A354-CF912F4948ED}"/>
              </a:ext>
            </a:extLst>
          </p:cNvPr>
          <p:cNvSpPr/>
          <p:nvPr/>
        </p:nvSpPr>
        <p:spPr>
          <a:xfrm>
            <a:off x="6572044" y="2384302"/>
            <a:ext cx="5034937" cy="783183"/>
          </a:xfrm>
          <a:prstGeom prst="roundRect">
            <a:avLst>
              <a:gd name="adj" fmla="val 16536"/>
            </a:avLst>
          </a:prstGeom>
          <a:noFill/>
          <a:ln w="38100">
            <a:solidFill>
              <a:srgbClr val="8FC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Возможность управлять заметками и ссылаться на одну в контексте другой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6DBC3BAC-9DD9-4641-9502-E4F15B14B0D2}"/>
              </a:ext>
            </a:extLst>
          </p:cNvPr>
          <p:cNvSpPr/>
          <p:nvPr/>
        </p:nvSpPr>
        <p:spPr>
          <a:xfrm>
            <a:off x="6916994" y="3362906"/>
            <a:ext cx="4728906" cy="783183"/>
          </a:xfrm>
          <a:prstGeom prst="roundRect">
            <a:avLst>
              <a:gd name="adj" fmla="val 16536"/>
            </a:avLst>
          </a:prstGeom>
          <a:noFill/>
          <a:ln w="38100">
            <a:solidFill>
              <a:srgbClr val="8FC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Возможность кэширования, локального сохранения файлов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73D827F9-DAD3-43FB-817C-D6CF00CD98DE}"/>
              </a:ext>
            </a:extLst>
          </p:cNvPr>
          <p:cNvCxnSpPr>
            <a:cxnSpLocks/>
          </p:cNvCxnSpPr>
          <p:nvPr/>
        </p:nvCxnSpPr>
        <p:spPr>
          <a:xfrm>
            <a:off x="4548236" y="1734122"/>
            <a:ext cx="2245854" cy="0"/>
          </a:xfrm>
          <a:prstGeom prst="straightConnector1">
            <a:avLst/>
          </a:prstGeom>
          <a:ln w="38100">
            <a:solidFill>
              <a:srgbClr val="8FCA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5E23BDC1-255C-432E-A064-A0271F85229F}"/>
              </a:ext>
            </a:extLst>
          </p:cNvPr>
          <p:cNvCxnSpPr>
            <a:cxnSpLocks/>
          </p:cNvCxnSpPr>
          <p:nvPr/>
        </p:nvCxnSpPr>
        <p:spPr>
          <a:xfrm flipV="1">
            <a:off x="5352022" y="1907458"/>
            <a:ext cx="1442068" cy="714954"/>
          </a:xfrm>
          <a:prstGeom prst="straightConnector1">
            <a:avLst/>
          </a:prstGeom>
          <a:ln w="38100">
            <a:solidFill>
              <a:srgbClr val="8FCA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8CBF4C38-DE7E-464D-9843-3581ADB773BC}"/>
              </a:ext>
            </a:extLst>
          </p:cNvPr>
          <p:cNvCxnSpPr>
            <a:cxnSpLocks/>
          </p:cNvCxnSpPr>
          <p:nvPr/>
        </p:nvCxnSpPr>
        <p:spPr>
          <a:xfrm>
            <a:off x="5352022" y="2644069"/>
            <a:ext cx="1097939" cy="131824"/>
          </a:xfrm>
          <a:prstGeom prst="straightConnector1">
            <a:avLst/>
          </a:prstGeom>
          <a:ln w="38100">
            <a:solidFill>
              <a:srgbClr val="8FCA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93279200-E0D7-4949-95D9-609CC84E7C43}"/>
              </a:ext>
            </a:extLst>
          </p:cNvPr>
          <p:cNvCxnSpPr>
            <a:cxnSpLocks/>
          </p:cNvCxnSpPr>
          <p:nvPr/>
        </p:nvCxnSpPr>
        <p:spPr>
          <a:xfrm>
            <a:off x="5265173" y="3667119"/>
            <a:ext cx="1528917" cy="87378"/>
          </a:xfrm>
          <a:prstGeom prst="straightConnector1">
            <a:avLst/>
          </a:prstGeom>
          <a:ln w="38100">
            <a:solidFill>
              <a:srgbClr val="8FCA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C7195F13-EEFD-4B79-A369-937BFF59EBBC}"/>
              </a:ext>
            </a:extLst>
          </p:cNvPr>
          <p:cNvSpPr/>
          <p:nvPr/>
        </p:nvSpPr>
        <p:spPr>
          <a:xfrm>
            <a:off x="6916994" y="4341510"/>
            <a:ext cx="4728906" cy="783183"/>
          </a:xfrm>
          <a:prstGeom prst="roundRect">
            <a:avLst>
              <a:gd name="adj" fmla="val 16536"/>
            </a:avLst>
          </a:prstGeom>
          <a:noFill/>
          <a:ln w="38100">
            <a:solidFill>
              <a:srgbClr val="8FC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Реализация инструментов планирования (</a:t>
            </a:r>
            <a:r>
              <a:rPr lang="ru-RU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канбан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календарь)</a:t>
            </a:r>
          </a:p>
        </p:txBody>
      </p: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0C28408D-EEC3-4286-A4F7-D10503138067}"/>
              </a:ext>
            </a:extLst>
          </p:cNvPr>
          <p:cNvCxnSpPr>
            <a:cxnSpLocks/>
          </p:cNvCxnSpPr>
          <p:nvPr/>
        </p:nvCxnSpPr>
        <p:spPr>
          <a:xfrm>
            <a:off x="5265172" y="4604603"/>
            <a:ext cx="1528917" cy="87378"/>
          </a:xfrm>
          <a:prstGeom prst="straightConnector1">
            <a:avLst/>
          </a:prstGeom>
          <a:ln w="38100">
            <a:solidFill>
              <a:srgbClr val="8FCA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211FE8EB-71E4-43C9-9101-4C401E8FB181}"/>
              </a:ext>
            </a:extLst>
          </p:cNvPr>
          <p:cNvSpPr/>
          <p:nvPr/>
        </p:nvSpPr>
        <p:spPr>
          <a:xfrm>
            <a:off x="6916994" y="5320114"/>
            <a:ext cx="4728906" cy="783183"/>
          </a:xfrm>
          <a:prstGeom prst="roundRect">
            <a:avLst>
              <a:gd name="adj" fmla="val 16536"/>
            </a:avLst>
          </a:prstGeom>
          <a:noFill/>
          <a:ln w="38100">
            <a:solidFill>
              <a:srgbClr val="8FC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Возможность выдачи прав на объекты системы</a:t>
            </a:r>
          </a:p>
        </p:txBody>
      </p: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F656F395-EC09-46D4-B1AE-87E95B0D0149}"/>
              </a:ext>
            </a:extLst>
          </p:cNvPr>
          <p:cNvCxnSpPr>
            <a:cxnSpLocks/>
          </p:cNvCxnSpPr>
          <p:nvPr/>
        </p:nvCxnSpPr>
        <p:spPr>
          <a:xfrm>
            <a:off x="5671163" y="5552940"/>
            <a:ext cx="1122926" cy="123087"/>
          </a:xfrm>
          <a:prstGeom prst="straightConnector1">
            <a:avLst/>
          </a:prstGeom>
          <a:ln w="38100">
            <a:solidFill>
              <a:srgbClr val="8FCA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33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A44135-558F-41C0-BE1A-6DAAF9A2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404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Ценности для целевой аудитории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185788-0A72-477E-B3F9-EA2954357968}"/>
              </a:ext>
            </a:extLst>
          </p:cNvPr>
          <p:cNvSpPr/>
          <p:nvPr/>
        </p:nvSpPr>
        <p:spPr>
          <a:xfrm>
            <a:off x="0" y="6243320"/>
            <a:ext cx="12192000" cy="614680"/>
          </a:xfrm>
          <a:prstGeom prst="rect">
            <a:avLst/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72D51F4-3085-474E-A28A-6E6CDD522D99}"/>
              </a:ext>
            </a:extLst>
          </p:cNvPr>
          <p:cNvSpPr txBox="1">
            <a:spLocks/>
          </p:cNvSpPr>
          <p:nvPr/>
        </p:nvSpPr>
        <p:spPr>
          <a:xfrm>
            <a:off x="254000" y="6389158"/>
            <a:ext cx="7044267" cy="468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Ценности для целевой аудитории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5B96E8-A704-442E-888D-BD08D16E55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6258067"/>
            <a:ext cx="584200" cy="584200"/>
          </a:xfrm>
          <a:prstGeom prst="rect">
            <a:avLst/>
          </a:prstGeom>
        </p:spPr>
      </p:pic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2050BD1F-D84B-4723-830D-53F592FB3BBC}"/>
              </a:ext>
            </a:extLst>
          </p:cNvPr>
          <p:cNvSpPr/>
          <p:nvPr/>
        </p:nvSpPr>
        <p:spPr>
          <a:xfrm>
            <a:off x="610830" y="3341980"/>
            <a:ext cx="4852222" cy="783183"/>
          </a:xfrm>
          <a:prstGeom prst="roundRect">
            <a:avLst>
              <a:gd name="adj" fmla="val 16536"/>
            </a:avLst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Потребность в автоматизации рутинных задач, стандартизации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D12DABFD-5475-4203-A7EC-93EF3FC6D370}"/>
              </a:ext>
            </a:extLst>
          </p:cNvPr>
          <p:cNvSpPr/>
          <p:nvPr/>
        </p:nvSpPr>
        <p:spPr>
          <a:xfrm>
            <a:off x="624346" y="1994502"/>
            <a:ext cx="3991897" cy="850510"/>
          </a:xfrm>
          <a:prstGeom prst="roundRect">
            <a:avLst>
              <a:gd name="adj" fmla="val 16536"/>
            </a:avLst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Потребность в мониторинге динамики процессов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86E5F748-CA87-452E-B16E-365AF5D3E675}"/>
              </a:ext>
            </a:extLst>
          </p:cNvPr>
          <p:cNvSpPr/>
          <p:nvPr/>
        </p:nvSpPr>
        <p:spPr>
          <a:xfrm>
            <a:off x="5854701" y="1880131"/>
            <a:ext cx="5830529" cy="1079252"/>
          </a:xfrm>
          <a:prstGeom prst="roundRect">
            <a:avLst>
              <a:gd name="adj" fmla="val 16536"/>
            </a:avLst>
          </a:prstGeom>
          <a:noFill/>
          <a:ln w="38100">
            <a:solidFill>
              <a:srgbClr val="8FC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Сбор и отображение статистических данных (например, о количестве выполненных задач)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DE36890E-C447-453F-A354-CF912F4948ED}"/>
              </a:ext>
            </a:extLst>
          </p:cNvPr>
          <p:cNvSpPr/>
          <p:nvPr/>
        </p:nvSpPr>
        <p:spPr>
          <a:xfrm>
            <a:off x="6650293" y="3341790"/>
            <a:ext cx="5034937" cy="783183"/>
          </a:xfrm>
          <a:prstGeom prst="roundRect">
            <a:avLst>
              <a:gd name="adj" fmla="val 16536"/>
            </a:avLst>
          </a:prstGeom>
          <a:noFill/>
          <a:ln w="38100">
            <a:solidFill>
              <a:srgbClr val="8FC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Возможность создавать шаблоны или использовать встроенные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CA400A93-0D5E-41EB-9216-20C907672887}"/>
              </a:ext>
            </a:extLst>
          </p:cNvPr>
          <p:cNvSpPr/>
          <p:nvPr/>
        </p:nvSpPr>
        <p:spPr>
          <a:xfrm>
            <a:off x="5613810" y="4567296"/>
            <a:ext cx="6071420" cy="783183"/>
          </a:xfrm>
          <a:prstGeom prst="roundRect">
            <a:avLst>
              <a:gd name="adj" fmla="val 16536"/>
            </a:avLst>
          </a:prstGeom>
          <a:noFill/>
          <a:ln w="38100">
            <a:solidFill>
              <a:srgbClr val="8FC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Возможность персонализации интерфейса (включение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отключение модулей, стилизация)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053FE02E-06D3-4929-8BA7-9DC6CDAFDE01}"/>
              </a:ext>
            </a:extLst>
          </p:cNvPr>
          <p:cNvSpPr/>
          <p:nvPr/>
        </p:nvSpPr>
        <p:spPr>
          <a:xfrm>
            <a:off x="624346" y="4509611"/>
            <a:ext cx="4154132" cy="877124"/>
          </a:xfrm>
          <a:prstGeom prst="roundRect">
            <a:avLst>
              <a:gd name="adj" fmla="val 16536"/>
            </a:avLst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Потребность в гибком рабочем пространстве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C7C3574A-D74B-4963-96D8-E2948E6327EC}"/>
              </a:ext>
            </a:extLst>
          </p:cNvPr>
          <p:cNvCxnSpPr>
            <a:cxnSpLocks/>
          </p:cNvCxnSpPr>
          <p:nvPr/>
        </p:nvCxnSpPr>
        <p:spPr>
          <a:xfrm>
            <a:off x="4731775" y="4948173"/>
            <a:ext cx="744794" cy="10714"/>
          </a:xfrm>
          <a:prstGeom prst="straightConnector1">
            <a:avLst/>
          </a:prstGeom>
          <a:ln w="38100">
            <a:solidFill>
              <a:srgbClr val="8FCA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001A8F80-0A46-4C73-AFB5-AAC666D9CFBE}"/>
              </a:ext>
            </a:extLst>
          </p:cNvPr>
          <p:cNvCxnSpPr>
            <a:cxnSpLocks/>
          </p:cNvCxnSpPr>
          <p:nvPr/>
        </p:nvCxnSpPr>
        <p:spPr>
          <a:xfrm>
            <a:off x="5418600" y="3724159"/>
            <a:ext cx="1110020" cy="9222"/>
          </a:xfrm>
          <a:prstGeom prst="straightConnector1">
            <a:avLst/>
          </a:prstGeom>
          <a:ln w="38100">
            <a:solidFill>
              <a:srgbClr val="8FCA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ED7BFADA-EA26-4D5A-B271-DFC666341C7C}"/>
              </a:ext>
            </a:extLst>
          </p:cNvPr>
          <p:cNvCxnSpPr>
            <a:cxnSpLocks/>
          </p:cNvCxnSpPr>
          <p:nvPr/>
        </p:nvCxnSpPr>
        <p:spPr>
          <a:xfrm>
            <a:off x="4616243" y="2450113"/>
            <a:ext cx="1110020" cy="9222"/>
          </a:xfrm>
          <a:prstGeom prst="straightConnector1">
            <a:avLst/>
          </a:prstGeom>
          <a:ln w="38100">
            <a:solidFill>
              <a:srgbClr val="8FCA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447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A44135-558F-41C0-BE1A-6DAAF9A2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404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Аналоги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185788-0A72-477E-B3F9-EA2954357968}"/>
              </a:ext>
            </a:extLst>
          </p:cNvPr>
          <p:cNvSpPr/>
          <p:nvPr/>
        </p:nvSpPr>
        <p:spPr>
          <a:xfrm>
            <a:off x="0" y="6243320"/>
            <a:ext cx="12192000" cy="614680"/>
          </a:xfrm>
          <a:prstGeom prst="rect">
            <a:avLst/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72D51F4-3085-474E-A28A-6E6CDD522D99}"/>
              </a:ext>
            </a:extLst>
          </p:cNvPr>
          <p:cNvSpPr txBox="1">
            <a:spLocks/>
          </p:cNvSpPr>
          <p:nvPr/>
        </p:nvSpPr>
        <p:spPr>
          <a:xfrm>
            <a:off x="254000" y="6389158"/>
            <a:ext cx="7044267" cy="468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Прямые аналоги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5B96E8-A704-442E-888D-BD08D16E55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6258067"/>
            <a:ext cx="584200" cy="5842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2333CA-728C-4FE6-9670-1309D9E1A4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865" y="3831478"/>
            <a:ext cx="1699375" cy="16993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836922C-84EE-4429-BCAC-1A58FA96EF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140" y="1289352"/>
            <a:ext cx="1690153" cy="169015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1BAAED34-7E00-4DD8-990E-0EC1210DC37F}"/>
              </a:ext>
            </a:extLst>
          </p:cNvPr>
          <p:cNvSpPr txBox="1">
            <a:spLocks/>
          </p:cNvSpPr>
          <p:nvPr/>
        </p:nvSpPr>
        <p:spPr>
          <a:xfrm>
            <a:off x="-280861" y="2888343"/>
            <a:ext cx="3630153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Notion</a:t>
            </a:r>
            <a:endParaRPr lang="ru-RU" sz="32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2E851C76-6713-4FE2-9CB1-36ECDE217AF0}"/>
              </a:ext>
            </a:extLst>
          </p:cNvPr>
          <p:cNvSpPr txBox="1">
            <a:spLocks/>
          </p:cNvSpPr>
          <p:nvPr/>
        </p:nvSpPr>
        <p:spPr>
          <a:xfrm>
            <a:off x="8806475" y="5414700"/>
            <a:ext cx="3630153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Obsidian</a:t>
            </a:r>
            <a:endParaRPr lang="ru-RU" sz="32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FC160830-186E-4AD2-8F2E-3FEEADE1DF8E}"/>
              </a:ext>
            </a:extLst>
          </p:cNvPr>
          <p:cNvSpPr/>
          <p:nvPr/>
        </p:nvSpPr>
        <p:spPr>
          <a:xfrm>
            <a:off x="2884661" y="1404368"/>
            <a:ext cx="8618199" cy="850510"/>
          </a:xfrm>
          <a:prstGeom prst="roundRect">
            <a:avLst>
              <a:gd name="adj" fmla="val 16536"/>
            </a:avLst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Достоинства: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универсальность, удобное хранение заметок в виде таблиц, интуитивный календарь и </a:t>
            </a:r>
            <a:r>
              <a:rPr lang="ru-RU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канбан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-доски, синхронизация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08302CDD-E38A-428F-A6E3-CCA42C637F0A}"/>
              </a:ext>
            </a:extLst>
          </p:cNvPr>
          <p:cNvSpPr/>
          <p:nvPr/>
        </p:nvSpPr>
        <p:spPr>
          <a:xfrm>
            <a:off x="2884661" y="2391747"/>
            <a:ext cx="8618199" cy="893404"/>
          </a:xfrm>
          <a:prstGeom prst="roundRect">
            <a:avLst>
              <a:gd name="adj" fmla="val 16536"/>
            </a:avLst>
          </a:prstGeom>
          <a:noFill/>
          <a:ln w="38100">
            <a:solidFill>
              <a:srgbClr val="8FC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Недостатки: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сложность, перегруженность интерфейса, платная подписка для продвинутых функций, доступ для РФ ограничен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B4ACE061-0DF8-44F9-AA81-E2396C9C5225}"/>
              </a:ext>
            </a:extLst>
          </p:cNvPr>
          <p:cNvSpPr/>
          <p:nvPr/>
        </p:nvSpPr>
        <p:spPr>
          <a:xfrm>
            <a:off x="689141" y="3997123"/>
            <a:ext cx="8598698" cy="850510"/>
          </a:xfrm>
          <a:prstGeom prst="roundRect">
            <a:avLst>
              <a:gd name="adj" fmla="val 16536"/>
            </a:avLst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Достоинства: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простота и удобство использования, гибкость, локальное хранение заметок, граф связей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EDA17EAB-B3A6-40D9-91AF-05F8CCA91755}"/>
              </a:ext>
            </a:extLst>
          </p:cNvPr>
          <p:cNvSpPr/>
          <p:nvPr/>
        </p:nvSpPr>
        <p:spPr>
          <a:xfrm>
            <a:off x="689141" y="4984502"/>
            <a:ext cx="8598698" cy="893404"/>
          </a:xfrm>
          <a:prstGeom prst="roundRect">
            <a:avLst>
              <a:gd name="adj" fmla="val 16536"/>
            </a:avLst>
          </a:prstGeom>
          <a:noFill/>
          <a:ln w="38100">
            <a:solidFill>
              <a:srgbClr val="8FC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Недостатки: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платная синхронизация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отсутствие удобных инструментов планирования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22306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A44135-558F-41C0-BE1A-6DAAF9A2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462"/>
            <a:ext cx="10515600" cy="893404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Аналоги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185788-0A72-477E-B3F9-EA2954357968}"/>
              </a:ext>
            </a:extLst>
          </p:cNvPr>
          <p:cNvSpPr/>
          <p:nvPr/>
        </p:nvSpPr>
        <p:spPr>
          <a:xfrm>
            <a:off x="0" y="6243320"/>
            <a:ext cx="12192000" cy="614680"/>
          </a:xfrm>
          <a:prstGeom prst="rect">
            <a:avLst/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72D51F4-3085-474E-A28A-6E6CDD522D99}"/>
              </a:ext>
            </a:extLst>
          </p:cNvPr>
          <p:cNvSpPr txBox="1">
            <a:spLocks/>
          </p:cNvSpPr>
          <p:nvPr/>
        </p:nvSpPr>
        <p:spPr>
          <a:xfrm>
            <a:off x="254000" y="6389158"/>
            <a:ext cx="7044267" cy="468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Примеры реализации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5B96E8-A704-442E-888D-BD08D16E55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6258067"/>
            <a:ext cx="584200" cy="5842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D231878-58AF-4B18-9DAF-CD7845F951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353" y="1284679"/>
            <a:ext cx="3922845" cy="462387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00D948E-B211-4C84-95F4-44B93ADC2B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264" y="1209619"/>
            <a:ext cx="7709471" cy="482835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6A6C222-F3F0-42ED-AEB6-902B54E503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988" y="1209619"/>
            <a:ext cx="8414021" cy="482835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6C0678A-467F-4A18-A8DF-48DAE23077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128" y="1209619"/>
            <a:ext cx="9405743" cy="494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62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Овал 10">
            <a:extLst>
              <a:ext uri="{FF2B5EF4-FFF2-40B4-BE49-F238E27FC236}">
                <a16:creationId xmlns:a16="http://schemas.microsoft.com/office/drawing/2014/main" id="{020533EC-52CB-444F-A073-4A330AE8FFFE}"/>
              </a:ext>
            </a:extLst>
          </p:cNvPr>
          <p:cNvSpPr/>
          <p:nvPr/>
        </p:nvSpPr>
        <p:spPr>
          <a:xfrm>
            <a:off x="838200" y="1330629"/>
            <a:ext cx="1703143" cy="1703143"/>
          </a:xfrm>
          <a:prstGeom prst="ellipse">
            <a:avLst/>
          </a:prstGeom>
          <a:solidFill>
            <a:srgbClr val="8FCA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A44135-558F-41C0-BE1A-6DAAF9A2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404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Команда и роли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185788-0A72-477E-B3F9-EA2954357968}"/>
              </a:ext>
            </a:extLst>
          </p:cNvPr>
          <p:cNvSpPr/>
          <p:nvPr/>
        </p:nvSpPr>
        <p:spPr>
          <a:xfrm>
            <a:off x="0" y="6243320"/>
            <a:ext cx="12192000" cy="614680"/>
          </a:xfrm>
          <a:prstGeom prst="rect">
            <a:avLst/>
          </a:prstGeom>
          <a:solidFill>
            <a:srgbClr val="8FC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72D51F4-3085-474E-A28A-6E6CDD522D99}"/>
              </a:ext>
            </a:extLst>
          </p:cNvPr>
          <p:cNvSpPr txBox="1">
            <a:spLocks/>
          </p:cNvSpPr>
          <p:nvPr/>
        </p:nvSpPr>
        <p:spPr>
          <a:xfrm>
            <a:off x="254000" y="6389158"/>
            <a:ext cx="7044267" cy="468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Команда и роли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5B96E8-A704-442E-888D-BD08D16E55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6258067"/>
            <a:ext cx="584200" cy="584200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6764A159-0161-4620-9800-3B1239AA4039}"/>
              </a:ext>
            </a:extLst>
          </p:cNvPr>
          <p:cNvSpPr txBox="1">
            <a:spLocks/>
          </p:cNvSpPr>
          <p:nvPr/>
        </p:nvSpPr>
        <p:spPr>
          <a:xfrm>
            <a:off x="2972014" y="1735498"/>
            <a:ext cx="2047564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Манайчева</a:t>
            </a:r>
            <a:endParaRPr lang="ru-RU" sz="2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Виктория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72ECBFD-EF5C-4E16-976C-08F92F8863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04" y="1655284"/>
            <a:ext cx="999633" cy="999633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D9ED41C4-95BA-4D62-A437-C0A88CC62331}"/>
              </a:ext>
            </a:extLst>
          </p:cNvPr>
          <p:cNvCxnSpPr>
            <a:cxnSpLocks/>
          </p:cNvCxnSpPr>
          <p:nvPr/>
        </p:nvCxnSpPr>
        <p:spPr>
          <a:xfrm>
            <a:off x="6096000" y="1771769"/>
            <a:ext cx="0" cy="4486298"/>
          </a:xfrm>
          <a:prstGeom prst="line">
            <a:avLst/>
          </a:prstGeom>
          <a:ln w="38100">
            <a:solidFill>
              <a:srgbClr val="8FCA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8E958C2B-63A0-41CC-8BB5-B046D4F44755}"/>
              </a:ext>
            </a:extLst>
          </p:cNvPr>
          <p:cNvSpPr/>
          <p:nvPr/>
        </p:nvSpPr>
        <p:spPr>
          <a:xfrm>
            <a:off x="6707104" y="1330629"/>
            <a:ext cx="1703143" cy="1703143"/>
          </a:xfrm>
          <a:prstGeom prst="ellipse">
            <a:avLst/>
          </a:prstGeom>
          <a:solidFill>
            <a:srgbClr val="8FCA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AEDA049-02B7-425E-A7D0-7C6B2A4E0BA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7524" y="1577080"/>
            <a:ext cx="1156039" cy="1156039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7B216F2D-8407-471C-BA89-4344986B9178}"/>
              </a:ext>
            </a:extLst>
          </p:cNvPr>
          <p:cNvSpPr txBox="1">
            <a:spLocks/>
          </p:cNvSpPr>
          <p:nvPr/>
        </p:nvSpPr>
        <p:spPr>
          <a:xfrm>
            <a:off x="8690667" y="1735498"/>
            <a:ext cx="1703143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Нямаа</a:t>
            </a:r>
            <a:endParaRPr lang="ru-RU" sz="2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Артур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BAFDCEBD-ECCB-4A01-B673-C0A59CDBFEF3}"/>
              </a:ext>
            </a:extLst>
          </p:cNvPr>
          <p:cNvSpPr txBox="1">
            <a:spLocks/>
          </p:cNvSpPr>
          <p:nvPr/>
        </p:nvSpPr>
        <p:spPr>
          <a:xfrm>
            <a:off x="769219" y="3431627"/>
            <a:ext cx="5061307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Модуль «Редактор заметок»</a:t>
            </a:r>
          </a:p>
          <a:p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(создание, редактирование, шаблоны заметок) 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1581742B-29C0-4C6C-9488-450766D3BC73}"/>
              </a:ext>
            </a:extLst>
          </p:cNvPr>
          <p:cNvSpPr txBox="1">
            <a:spLocks/>
          </p:cNvSpPr>
          <p:nvPr/>
        </p:nvSpPr>
        <p:spPr>
          <a:xfrm>
            <a:off x="769219" y="4378866"/>
            <a:ext cx="5061305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Модуль «Планирование»</a:t>
            </a:r>
          </a:p>
          <a:p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(реализация </a:t>
            </a:r>
            <a:r>
              <a:rPr lang="ru-RU" sz="2000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канбан</a:t>
            </a:r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-доски, календаря)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5B4973EF-C8E6-49E4-8486-7E058B34F5BA}"/>
              </a:ext>
            </a:extLst>
          </p:cNvPr>
          <p:cNvSpPr txBox="1">
            <a:spLocks/>
          </p:cNvSpPr>
          <p:nvPr/>
        </p:nvSpPr>
        <p:spPr>
          <a:xfrm>
            <a:off x="769218" y="5127756"/>
            <a:ext cx="5061305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Основная часть 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Frontend-</a:t>
            </a:r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разработки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153A4810-8893-4AAD-A62C-9589D23C2FE0}"/>
              </a:ext>
            </a:extLst>
          </p:cNvPr>
          <p:cNvSpPr txBox="1">
            <a:spLocks/>
          </p:cNvSpPr>
          <p:nvPr/>
        </p:nvSpPr>
        <p:spPr>
          <a:xfrm>
            <a:off x="6519434" y="3340512"/>
            <a:ext cx="5279275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Организация хранения данных и реализация настройки общего доступа 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29C4BE4C-6DE8-4252-A31B-D22FC1CB1CFD}"/>
              </a:ext>
            </a:extLst>
          </p:cNvPr>
          <p:cNvSpPr txBox="1">
            <a:spLocks/>
          </p:cNvSpPr>
          <p:nvPr/>
        </p:nvSpPr>
        <p:spPr>
          <a:xfrm>
            <a:off x="6519434" y="4204856"/>
            <a:ext cx="5515249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Модуль «Аналитика»</a:t>
            </a:r>
          </a:p>
          <a:p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(сбор и визуализация статистики)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A9BE89B4-9A6B-4DC7-A939-F08D775DAC58}"/>
              </a:ext>
            </a:extLst>
          </p:cNvPr>
          <p:cNvSpPr txBox="1">
            <a:spLocks/>
          </p:cNvSpPr>
          <p:nvPr/>
        </p:nvSpPr>
        <p:spPr>
          <a:xfrm>
            <a:off x="6519434" y="5144561"/>
            <a:ext cx="5279275" cy="893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Модуль «Администратор»</a:t>
            </a:r>
          </a:p>
          <a:p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(панель администратора для управления пользователями)</a:t>
            </a:r>
          </a:p>
        </p:txBody>
      </p:sp>
    </p:spTree>
    <p:extLst>
      <p:ext uri="{BB962C8B-B14F-4D97-AF65-F5344CB8AC3E}">
        <p14:creationId xmlns:p14="http://schemas.microsoft.com/office/powerpoint/2010/main" val="410183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EBA0EC7-0F13-40EA-9247-2815E05975B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61"/>
          <a:stretch/>
        </p:blipFill>
        <p:spPr>
          <a:xfrm>
            <a:off x="2966269" y="325693"/>
            <a:ext cx="6259461" cy="606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376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457</Words>
  <Application>Microsoft Office PowerPoint</Application>
  <PresentationFormat>Широкоэкранный</PresentationFormat>
  <Paragraphs>89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Тема Office</vt:lpstr>
      <vt:lpstr>Прототип программной системы удаленного управления  заметками для организации учебного и рабочего процесса</vt:lpstr>
      <vt:lpstr>Цель и задачи</vt:lpstr>
      <vt:lpstr>Анализ целевой аудитории</vt:lpstr>
      <vt:lpstr>Анализ целевой аудитории</vt:lpstr>
      <vt:lpstr>Анализ целевой аудитории</vt:lpstr>
      <vt:lpstr>Решение проблем целевой аудитории</vt:lpstr>
      <vt:lpstr>Ценности для целевой аудитории</vt:lpstr>
      <vt:lpstr>Аналоги</vt:lpstr>
      <vt:lpstr>Аналоги</vt:lpstr>
      <vt:lpstr>Команда и роли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Прототип программной системы удаленного управления заметками для организации учебного и рабочего процесса</dc:title>
  <dc:creator>manaichevavika@gmail.com</dc:creator>
  <cp:lastModifiedBy>manaichevavika@gmail.com</cp:lastModifiedBy>
  <cp:revision>65</cp:revision>
  <dcterms:created xsi:type="dcterms:W3CDTF">2025-10-07T12:32:27Z</dcterms:created>
  <dcterms:modified xsi:type="dcterms:W3CDTF">2025-10-21T14:31:42Z</dcterms:modified>
</cp:coreProperties>
</file>